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Zeta Commercial Cycle</a:t>
            </a:r>
          </a:p>
          <a:p/>
          <a:p>
            <a:r>
              <a:t>1 · See the Business (C-Level)</a:t>
            </a:r>
          </a:p>
          <a:p>
            <a:r>
              <a:t>   Executive Home · Pharmacy Sales Analytics · Promo Budget · Project Management</a:t>
            </a:r>
          </a:p>
          <a:p>
            <a:r>
              <a:t>   BU coverage, market sell-out trends, spend vs budget, initiative progress</a:t>
            </a:r>
          </a:p>
          <a:p/>
          <a:p>
            <a:r>
              <a:t>2 · Plan &amp; Configure (SFE · PM)</a:t>
            </a:r>
          </a:p>
          <a:p>
            <a:r>
              <a:t>   Admin Console · territory &amp; product alignment · CLM publish · coaching templates · plan cycles</a:t>
            </a:r>
          </a:p>
          <a:p/>
          <a:p>
            <a:r>
              <a:t>3 · Field Execution (Rep)</a:t>
            </a:r>
          </a:p>
          <a:p>
            <a:r>
              <a:t>   Field Home · Planner · Visit / Call Report · CLM player · HCP feedback capture</a:t>
            </a:r>
          </a:p>
          <a:p/>
          <a:p>
            <a:r>
              <a:t>4 · Report &amp; Roll Up (DM · SFE)</a:t>
            </a:r>
          </a:p>
          <a:p>
            <a:r>
              <a:t>   Employee time card · Medical Rep 360 · Team KPI Command Center</a:t>
            </a:r>
          </a:p>
          <a:p/>
          <a:p>
            <a:r>
              <a:t>5 · Coach &amp; Develop (DM)</a:t>
            </a:r>
          </a:p>
          <a:p>
            <a:r>
              <a:t>   Coaching events · dual rep + manager scoring · competency gaps</a:t>
            </a:r>
          </a:p>
          <a:p/>
          <a:p>
            <a:r>
              <a:t>6 · Decide &amp; Adjust (C-Level)</a:t>
            </a:r>
          </a:p>
          <a:p>
            <a:r>
              <a:t>   Back to Executive Home · reallocate promo budget · refocus CLM · intensify coaching</a:t>
            </a:r>
          </a:p>
          <a:p/>
          <a:p>
            <a:r>
              <a:t>Demo order: Executive Home → Pharmacy Sales → Admin Console → Rep flow → Team KPI → Coaching → Executive Home</a:t>
            </a:r>
          </a:p>
          <a:p/>
          <a:p>
            <a:r>
              <a:t>Audience: CEO/CFO (ROI &amp; market) · PM (CLM &amp; projects) · DM/SFE (KPIs &amp; coaching) · Guru rep (planner &amp; calls)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772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0D478A"/>
                </a:solidFill>
                <a:latin typeface="Segoe UI"/>
              </a:defRPr>
            </a:pPr>
            <a:r>
              <a:t>The Zeta Commercial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B7C93"/>
                </a:solidFill>
                <a:latin typeface="Segoe UI"/>
              </a:defRPr>
            </a:pPr>
            <a:r>
              <a:t>From market insight to field execution — and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572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0D478A"/>
                </a:solidFill>
                <a:latin typeface="Segoe UI"/>
              </a:defRPr>
            </a:pPr>
            <a:r>
              <a:t>ZETA PHARMA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713232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A1E0"/>
                </a:solidFill>
                <a:latin typeface="Segoe UI"/>
              </a:defRPr>
            </a:pPr>
            <a:r>
              <a:t>salesforce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994660"/>
            <a:ext cx="2468880" cy="502920"/>
          </a:xfrm>
          <a:prstGeom prst="ellipse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2857500"/>
            <a:ext cx="2468880" cy="777240"/>
          </a:xfrm>
          <a:prstGeom prst="ellipse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0" y="2766060"/>
            <a:ext cx="2468880" cy="960120"/>
          </a:xfrm>
          <a:prstGeom prst="ellipse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0" y="2857500"/>
            <a:ext cx="2468880" cy="777240"/>
          </a:xfrm>
          <a:prstGeom prst="ellipse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0" y="2994660"/>
            <a:ext cx="2468880" cy="502920"/>
          </a:xfrm>
          <a:prstGeom prst="ellipse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890" y="1874519"/>
            <a:ext cx="658368" cy="658368"/>
          </a:xfrm>
          <a:prstGeom prst="ellipse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254" y="2624327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254" y="2624327"/>
            <a:ext cx="54864" cy="868680"/>
          </a:xfrm>
          <a:prstGeom prst="rect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270" y="2660903"/>
            <a:ext cx="1527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D478A"/>
                </a:solidFill>
                <a:latin typeface="Segoe UI"/>
              </a:defRPr>
            </a:pPr>
            <a:r>
              <a:t>See the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270" y="3008375"/>
            <a:ext cx="1527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6B7C93"/>
                </a:solidFill>
                <a:latin typeface="Segoe UI"/>
              </a:defRPr>
            </a:pPr>
            <a:r>
              <a:t>C-Level</a:t>
            </a:r>
          </a:p>
        </p:txBody>
      </p:sp>
      <p:sp>
        <p:nvSpPr>
          <p:cNvPr id="17" name="Oval 16"/>
          <p:cNvSpPr/>
          <p:nvPr/>
        </p:nvSpPr>
        <p:spPr>
          <a:xfrm>
            <a:off x="2970199" y="2331720"/>
            <a:ext cx="658368" cy="658368"/>
          </a:xfrm>
          <a:prstGeom prst="ellipse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53563" y="3081528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3563" y="3081528"/>
            <a:ext cx="54864" cy="868680"/>
          </a:xfrm>
          <a:prstGeom prst="rect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81579" y="3118104"/>
            <a:ext cx="1527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D478A"/>
                </a:solidFill>
                <a:latin typeface="Segoe UI"/>
              </a:defRPr>
            </a:pPr>
            <a:r>
              <a:t>Plan &amp; Configure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1579" y="3465576"/>
            <a:ext cx="1527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6B7C93"/>
                </a:solidFill>
                <a:latin typeface="Segoe UI"/>
              </a:defRPr>
            </a:pPr>
            <a:r>
              <a:t>SFE · PM</a:t>
            </a:r>
          </a:p>
        </p:txBody>
      </p:sp>
      <p:sp>
        <p:nvSpPr>
          <p:cNvPr id="22" name="Oval 21"/>
          <p:cNvSpPr/>
          <p:nvPr/>
        </p:nvSpPr>
        <p:spPr>
          <a:xfrm>
            <a:off x="4834508" y="2697480"/>
            <a:ext cx="658368" cy="658368"/>
          </a:xfrm>
          <a:prstGeom prst="ellipse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7872" y="3447288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7872" y="3447288"/>
            <a:ext cx="54864" cy="868680"/>
          </a:xfrm>
          <a:prstGeom prst="rect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5888" y="3483864"/>
            <a:ext cx="1527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D478A"/>
                </a:solidFill>
                <a:latin typeface="Segoe UI"/>
              </a:defRPr>
            </a:pPr>
            <a:r>
              <a:t>Field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5888" y="3831336"/>
            <a:ext cx="1527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6B7C93"/>
                </a:solidFill>
                <a:latin typeface="Segoe UI"/>
              </a:defRPr>
            </a:pPr>
            <a:r>
              <a:t>Rep</a:t>
            </a:r>
          </a:p>
        </p:txBody>
      </p:sp>
      <p:sp>
        <p:nvSpPr>
          <p:cNvPr id="27" name="Oval 26"/>
          <p:cNvSpPr/>
          <p:nvPr/>
        </p:nvSpPr>
        <p:spPr>
          <a:xfrm>
            <a:off x="6698818" y="2331720"/>
            <a:ext cx="658368" cy="658368"/>
          </a:xfrm>
          <a:prstGeom prst="ellipse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2182" y="3081528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2182" y="3081528"/>
            <a:ext cx="54864" cy="868680"/>
          </a:xfrm>
          <a:prstGeom prst="rect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0198" y="3118104"/>
            <a:ext cx="1527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D478A"/>
                </a:solidFill>
                <a:latin typeface="Segoe UI"/>
              </a:defRPr>
            </a:pPr>
            <a:r>
              <a:t>Report &amp; Roll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0198" y="3465576"/>
            <a:ext cx="1527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6B7C93"/>
                </a:solidFill>
                <a:latin typeface="Segoe UI"/>
              </a:defRPr>
            </a:pPr>
            <a:r>
              <a:t>DM · SFE</a:t>
            </a:r>
          </a:p>
        </p:txBody>
      </p:sp>
      <p:sp>
        <p:nvSpPr>
          <p:cNvPr id="32" name="Oval 31"/>
          <p:cNvSpPr/>
          <p:nvPr/>
        </p:nvSpPr>
        <p:spPr>
          <a:xfrm>
            <a:off x="8563127" y="1874519"/>
            <a:ext cx="658368" cy="658368"/>
          </a:xfrm>
          <a:prstGeom prst="ellipse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491" y="2624327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491" y="2624327"/>
            <a:ext cx="54864" cy="868680"/>
          </a:xfrm>
          <a:prstGeom prst="rect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507" y="2660903"/>
            <a:ext cx="1527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D478A"/>
                </a:solidFill>
                <a:latin typeface="Segoe UI"/>
              </a:defRPr>
            </a:pPr>
            <a:r>
              <a:t>Coach &amp; Develop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507" y="3008375"/>
            <a:ext cx="1527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6B7C93"/>
                </a:solidFill>
                <a:latin typeface="Segoe UI"/>
              </a:defRPr>
            </a:pPr>
            <a:r>
              <a:t>DM</a:t>
            </a:r>
          </a:p>
        </p:txBody>
      </p:sp>
      <p:sp>
        <p:nvSpPr>
          <p:cNvPr id="37" name="Oval 36"/>
          <p:cNvSpPr/>
          <p:nvPr/>
        </p:nvSpPr>
        <p:spPr>
          <a:xfrm>
            <a:off x="10427436" y="2148840"/>
            <a:ext cx="658368" cy="658368"/>
          </a:xfrm>
          <a:prstGeom prst="ellipse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10800" y="2898648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10800" y="2898648"/>
            <a:ext cx="54864" cy="868680"/>
          </a:xfrm>
          <a:prstGeom prst="rect">
            <a:avLst/>
          </a:prstGeom>
          <a:solidFill>
            <a:srgbClr val="1B6FD8"/>
          </a:solidFill>
          <a:ln>
            <a:solidFill>
              <a:srgbClr val="1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38816" y="2935224"/>
            <a:ext cx="1527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D478A"/>
                </a:solidFill>
                <a:latin typeface="Segoe UI"/>
              </a:defRPr>
            </a:pPr>
            <a:r>
              <a:t>Decide &amp; Adjust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8816" y="3282696"/>
            <a:ext cx="1527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6B7C93"/>
                </a:solidFill>
                <a:latin typeface="Segoe UI"/>
              </a:defRPr>
            </a:pPr>
            <a:r>
              <a:t>C-Level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294077" y="2487168"/>
            <a:ext cx="182880" cy="109728"/>
          </a:xfrm>
          <a:prstGeom prst="rightArrow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4158386" y="2487168"/>
            <a:ext cx="182880" cy="109728"/>
          </a:xfrm>
          <a:prstGeom prst="rightArrow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6022695" y="2487168"/>
            <a:ext cx="182880" cy="109728"/>
          </a:xfrm>
          <a:prstGeom prst="rightArrow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7887004" y="2487168"/>
            <a:ext cx="182880" cy="109728"/>
          </a:xfrm>
          <a:prstGeom prst="rightArrow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9751313" y="2487168"/>
            <a:ext cx="182880" cy="109728"/>
          </a:xfrm>
          <a:prstGeom prst="rightArrow">
            <a:avLst/>
          </a:prstGeom>
          <a:solidFill>
            <a:srgbClr val="C5DFF5"/>
          </a:solidFill>
          <a:ln>
            <a:solidFill>
              <a:srgbClr val="C5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5800" y="4160520"/>
            <a:ext cx="10817352" cy="475488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224528"/>
            <a:ext cx="108173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D478A"/>
                </a:solidFill>
                <a:latin typeface="Segoe UI"/>
              </a:defRPr>
            </a:pPr>
            <a:r>
              <a:t>↻  Market &amp; field insights feed the next cycle  —  budget · CLM · coaching priorities adjust monthly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