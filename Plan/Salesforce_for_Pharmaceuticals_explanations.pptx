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A few words, in everyday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075"/>
                </a:solidFill>
                <a:latin typeface="Calibri"/>
              </a:rPr>
              <a:t>The rest of the deck uses the names the field team uses. Here is what they mean.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Doctor (HCP)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A physician or other clinician the company visits.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73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Hospital, clinic, pharmacy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The places those visits happen. A hospital is sometimes called an HCO.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73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The person who goes out and sees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826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Visit, or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One of those meetings, written up in Salesforce. If it is not written up, it did not happen.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2826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How many visits each customer should receive this month.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826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Class, A1 to 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How important a customer is. A is seen most often. C is seen least often.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66344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91455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Time off territory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A day the rep is not out visiting: leave, training, or sick. Short name: TOT.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466344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791455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Business unit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663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A product team, such as diabetes, heart, or dermatology.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66344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791455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Next best 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663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72B4D"/>
                </a:solidFill>
                <a:latin typeface="Calibri"/>
              </a:rPr>
              <a:t>Who to see next, because they are behind on the plan.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For anyone new to pharmaceutical field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What the six home numbers mean</a:t>
            </a:r>
          </a:p>
        </p:txBody>
      </p:sp>
      <p:pic>
        <p:nvPicPr>
          <p:cNvPr id="5" name="Picture 4" descr="offline-kpis-ba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761901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170432"/>
            <a:ext cx="562356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2D60"/>
                </a:solidFill>
                <a:latin typeface="Calibri"/>
              </a:rPr>
              <a:t>Click any number to see the customers behind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1  Visits done, out of the visits this month's plan expects.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2  Customers seen at least once, so nobody on the list is skipped.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3  Customers visited as often as their class requires. A is seen more than C.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4  Visits still left. Open it to see who to book next.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5  Hospital visits. This is the morning hospital round.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6  Doctors, clinics, and pharmacies — everyone who is not a hospital.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Field Co-pilot home,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The monthly timecard</a:t>
            </a:r>
          </a:p>
        </p:txBody>
      </p:sp>
      <p:pic>
        <p:nvPicPr>
          <p:cNvPr id="5" name="Picture 4" descr="offline-timecard-ba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761901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170432"/>
            <a:ext cx="562356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2D60"/>
                </a:solidFill>
                <a:latin typeface="Calibri"/>
              </a:rPr>
              <a:t>These tiles explain the month, not just today's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1  Field days — weekdays minus holidays and approved leave.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2  Coached — days a manager rode along.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3  Activities recorded — days with at least one finished visit.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4  Completed activities — visits and meetings that actually happened.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5  Potential activities — visits and meetings still on the calendar.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6  Leaves — approved and pending days away. These are not missed visits.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Field Co-pilot home,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A meeting is a group event, not a clinic visit</a:t>
            </a:r>
          </a:p>
        </p:txBody>
      </p:sp>
      <p:pic>
        <p:nvPicPr>
          <p:cNvPr id="5" name="Picture 4" descr="offline-field-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623560" cy="5086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207008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What you are looking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A round table, speaker evening, training, or webinar. Doctors are invited. There is a venue and a budget.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The colored counts are the life of an event: still a draft, waiting for a manager, ready to run, costs being settled, or closed.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Each card is one event: date, place, how many people, and the planned cost in Egyptian pounds.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A manager approves the spend before invitations go out. After the event, the real cost is compared with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Meetings Home,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MEETINGS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Plan, approve, run, then settle the cost</a:t>
            </a:r>
          </a:p>
        </p:txBody>
      </p:sp>
      <p:pic>
        <p:nvPicPr>
          <p:cNvPr id="5" name="Picture 4" descr="offline-field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623560" cy="5086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207008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The six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1. Plan — date, place, topic, guests, and a cost estimate.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2. Approval — the right managers say yes, or send it back. This example was sent back because catering was above the allowed amount per person.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3. Run — the event happens. Doctors check in.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4. Cost — what was actually spent.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5. Accounting — finance pays what was approved.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6. Closed — the record is finished and can be audited.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One meeting,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MEETINGS  ·  THE DOCTOR'S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The doctor never logs into Salesforce</a:t>
            </a:r>
          </a:p>
        </p:txBody>
      </p:sp>
      <p:pic>
        <p:nvPicPr>
          <p:cNvPr id="5" name="Picture 4" descr="hcp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2859267" cy="52303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03320" y="1234440"/>
            <a:ext cx="80924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14173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32D60"/>
                </a:solidFill>
                <a:latin typeface="Calibri"/>
              </a:rPr>
              <a:t>What the doctor sees on their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011680"/>
            <a:ext cx="7543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They receive a personal link by WhatsApp or email. Opening it shows this invitation.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They see when, where, and whether they have replied. One tap confirms they will attend.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On the day they show a live entry pass at the door. The code changes every minute, so a screenshot of the pass cannot be reused.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The same small app lets them ask for samples, request a visit, ask Medical a question, or report a side effect.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The company sees who was invited, who confirmed, and who actually walked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HCP view of the Yacoub Foundation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Writing up one customer call</a:t>
            </a:r>
          </a:p>
        </p:txBody>
      </p:sp>
      <p:pic>
        <p:nvPicPr>
          <p:cNvPr id="5" name="Picture 4" descr="offline-field-vi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623560" cy="5086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207008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This is visit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The rep opens the visit during or just after the call and records what happened.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Details: when it started and ended, the purpose, and whether they actually met the person.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The other tabs cover who was there, which products were discussed, samples left behind, slides shown, orders, and a store check.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Submitting the visit updates the home-page numbers the same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A submitted pharmacy visit,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Time off territory — a day not spent visiting</a:t>
            </a:r>
          </a:p>
        </p:txBody>
      </p:sp>
      <p:pic>
        <p:nvPicPr>
          <p:cNvPr id="5" name="Picture 4" descr="offline-field-tot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623560" cy="5086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207008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How a rep records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From the weekly planner, the rep adds time off the same way they add a visit.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Presets cover the common cases: a short training, a few hours sick, a full day of annual leave, or a health day.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Custom covers anything else: the reason, how long, the start time, and a comment.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Save a draft or submit. The manager approves or rejects it on their phone.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Approved days come out of the visit target. A vacation does not look like the rep skipped their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Create Time Off, from the offline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FIELD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The rest of the rep's day, in plain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Home office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Notes from headquarters: a new campaign, a rule, or a reminder. Read them before leaving the 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28016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Be in the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Short news from medicine, the drug industry, and technology, so the rep is not surprised in the clinic.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28016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Today's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Who is on today's route, in order, on a map. This is the driving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0358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Top 5 next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429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The five people most worth seeing next, because they are behind on visits. One tap books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92608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30358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429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The book of doctors, pharmacies, and hospitals: who they are, who they work with, and how the relationship is going.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292608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30358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429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The week. Drag a customer onto a time to book a visit. Meetings and time off sit on the same calendar.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7200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6817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Short courses and certificates between calls, so product knowledge stays current.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457200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46817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Class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50749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The grid that turns importance into A1–C3. That class decides how often the customer must be seen.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4572000"/>
            <a:ext cx="3749039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46817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2D60"/>
                </a:solidFill>
                <a:latin typeface="Calibri"/>
              </a:rPr>
              <a:t>Expenses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50749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B4D"/>
                </a:solidFill>
                <a:latin typeface="Calibri"/>
              </a:rPr>
              <a:t>Money spent on the road, submitted by the rep and reviewed for repayment.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Each of these already has a screen later in the main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LEAD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The same month, seen across the team</a:t>
            </a:r>
          </a:p>
        </p:txBody>
      </p:sp>
      <p:pic>
        <p:nvPicPr>
          <p:cNvPr id="5" name="Picture 4" descr="offline-mgmt-work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761901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170432"/>
            <a:ext cx="562356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Managers open this instead of one rep's home page.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Filter by month, product team, region, and district.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Each card is a team result: sales, coverage, visit frequency, and coaching.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Click a card to see which reps are behind, and which customers are the gap.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B4D"/>
                </a:solidFill>
                <a:latin typeface="Calibri"/>
              </a:rPr>
              <a:t>My Team is where time off, meetings, and expenses wait for a yes or a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Lead Co-pilot,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LEAD CO-PILOT  ·  OFFLINE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Reports the team can run without a spreadsheet</a:t>
            </a:r>
          </a:p>
        </p:txBody>
      </p:sp>
      <p:pic>
        <p:nvPicPr>
          <p:cNvPr id="5" name="Picture 4" descr="offline-mgmt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761901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170432"/>
            <a:ext cx="562356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Working days, visits, and coverage, already built.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The last result stays on the device, so a manager can open it with no signal.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72B4D"/>
                </a:solidFill>
                <a:latin typeface="Calibri"/>
              </a:rPr>
              <a:t>New Report is for a question the standard set does not answer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Lead Co-pilot, Salesforce offline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FORCE CO-PILOT  ·  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Where the company sets the rules</a:t>
            </a:r>
          </a:p>
        </p:txBody>
      </p:sp>
      <p:pic>
        <p:nvPicPr>
          <p:cNvPr id="5" name="Picture 4" descr="lightning-sf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133109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170432"/>
            <a:ext cx="54864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32D60"/>
                </a:solidFill>
                <a:latin typeface="Calibri"/>
              </a:rPr>
              <a:t>Sales force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This app is for the people who set up the field, not the people out on visits.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Territories, products, bricks, and who is allowed to see which doctor.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How often each class of customer must be visited, and which holidays come out of the plan.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Meeting types, coaching forms, samples, and the data that arrives from distributors.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72B4D"/>
                </a:solidFill>
                <a:latin typeface="Calibri"/>
              </a:rPr>
              <a:t>Reps and managers use the offline apps. This setup stays in Salesforce.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Force Co-pilot Admin Console, Salesforce Lightning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C2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22A"/>
                </a:solidFill>
                <a:latin typeface="Calibri"/>
              </a:rPr>
              <a:t>CARE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75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2D60"/>
                </a:solidFill>
                <a:latin typeface="Calibri"/>
              </a:rPr>
              <a:t>The people who support patients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556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2D60"/>
                </a:solidFill>
                <a:latin typeface="Calibri"/>
              </a:rPr>
              <a:t>This is not the sales visit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72B4D"/>
                </a:solidFill>
                <a:latin typeface="Calibri"/>
              </a:rPr>
              <a:t>Nurses and coordinators follow a patient over time: the journey, planned calls, and orders.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72B4D"/>
                </a:solidFill>
                <a:latin typeface="Calibri"/>
              </a:rPr>
              <a:t>Calls can be recorded and summarized, so the next person knows what was said.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72B4D"/>
                </a:solidFill>
                <a:latin typeface="Calibri"/>
              </a:rPr>
              <a:t>The drug company can look at the same program with names hidden: initials, age, and gender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075"/>
                </a:solidFill>
                <a:latin typeface="Calibri"/>
              </a:rPr>
              <a:t>Care Coach Co-pilot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6075"/>
                </a:solidFill>
                <a:latin typeface="Calibri"/>
              </a:rPr>
              <a:t>Salesforce for Pharmaceuticals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